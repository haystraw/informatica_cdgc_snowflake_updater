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3"/>
    <p:sldMasterId id="2147483721" r:id="rId4"/>
    <p:sldMasterId id="2147483794" r:id="rId5"/>
  </p:sldMasterIdLst>
  <p:notesMasterIdLst>
    <p:notesMasterId r:id="rId15"/>
  </p:notesMasterIdLst>
  <p:handoutMasterIdLst>
    <p:handoutMasterId r:id="rId16"/>
  </p:handoutMasterIdLst>
  <p:sldIdLst>
    <p:sldId id="288" r:id="rId6"/>
    <p:sldId id="2134807745" r:id="rId7"/>
    <p:sldId id="2134807766" r:id="rId8"/>
    <p:sldId id="2134807781" r:id="rId9"/>
    <p:sldId id="2134807775" r:id="rId10"/>
    <p:sldId id="2134807776" r:id="rId11"/>
    <p:sldId id="2134807791" r:id="rId12"/>
    <p:sldId id="2134807780" r:id="rId13"/>
    <p:sldId id="267" r:id="rId14"/>
  </p:sldIdLst>
  <p:sldSz cx="12188825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71BE8E3-79A6-A544-8E6D-DADC11542776}">
          <p14:sldIdLst>
            <p14:sldId id="288"/>
            <p14:sldId id="2134807745"/>
            <p14:sldId id="2134807766"/>
          </p14:sldIdLst>
        </p14:section>
        <p14:section name="Setup" id="{BAA05414-4D33-48F4-9E56-56EDACBFDDA3}">
          <p14:sldIdLst>
            <p14:sldId id="2134807781"/>
            <p14:sldId id="2134807775"/>
            <p14:sldId id="2134807776"/>
            <p14:sldId id="2134807791"/>
            <p14:sldId id="2134807780"/>
          </p14:sldIdLst>
        </p14:section>
        <p14:section name="Closing" id="{E61FE419-5492-7A45-96CE-D25AD06F44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00"/>
    <a:srgbClr val="0432FF"/>
    <a:srgbClr val="FF4D00"/>
    <a:srgbClr val="95D13C"/>
    <a:srgbClr val="E23400"/>
    <a:srgbClr val="FF9801"/>
    <a:srgbClr val="FCA304"/>
    <a:srgbClr val="FF6621"/>
    <a:srgbClr val="F99439"/>
    <a:srgbClr val="FF8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96"/>
    <p:restoredTop sz="91353" autoAdjust="0"/>
  </p:normalViewPr>
  <p:slideViewPr>
    <p:cSldViewPr snapToGrid="0">
      <p:cViewPr varScale="1">
        <p:scale>
          <a:sx n="86" d="100"/>
          <a:sy n="86" d="100"/>
        </p:scale>
        <p:origin x="1331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8AF0ABA-1503-4581-BC5A-AF3D56D7DD4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63F1010-2D67-4645-821C-D43BAA1B1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0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8186FDC-CD1E-4E7E-B1CD-1CBCCD519E8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A8B04-59C6-4476-9B83-8806D24CC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5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24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448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171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8895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619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343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067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7790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83306">
              <a:defRPr/>
            </a:pPr>
            <a:fld id="{4B9A8B04-59C6-4476-9B83-8806D24CC38B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83306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76734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83306">
              <a:defRPr/>
            </a:pPr>
            <a:fld id="{4B9A8B04-59C6-4476-9B83-8806D24CC38B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83306">
                <a:defRPr/>
              </a:pPr>
              <a:t>4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697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A8B04-59C6-4476-9B83-8806D24CC3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3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5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rgbClr val="FF4D00">
              <a:alpha val="90000"/>
            </a:srgbClr>
          </a:solidFill>
          <a:ln>
            <a:noFill/>
          </a:ln>
        </p:spPr>
        <p:txBody>
          <a:bodyPr vert="horz" wrap="square" lIns="60944" tIns="30472" rIns="60944" bIns="30472" numCol="1" anchor="t" anchorCtr="0" compatLnSpc="1">
            <a:prstTxWarp prst="textNoShape">
              <a:avLst/>
            </a:prstTxWarp>
          </a:bodyPr>
          <a:lstStyle/>
          <a:p>
            <a:r>
              <a:rPr lang="en-US" sz="1200"/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6" y="1610"/>
            <a:ext cx="9595159" cy="6865102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3"/>
            <a:ext cx="6487721" cy="4409962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rgbClr val="FF4D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7" y="5935979"/>
            <a:ext cx="342765" cy="92202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9" name="Freeform: Shape 8"/>
          <p:cNvSpPr/>
          <p:nvPr userDrawn="1"/>
        </p:nvSpPr>
        <p:spPr>
          <a:xfrm>
            <a:off x="1891576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rgbClr val="FF7D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2113110"/>
            <a:ext cx="5702946" cy="42689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</a:t>
            </a:r>
            <a:r>
              <a:rPr lang="en-US" err="1"/>
              <a:t>Roboto</a:t>
            </a:r>
            <a:r>
              <a:rPr lang="en-US"/>
              <a:t>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3103006"/>
            <a:ext cx="7339764" cy="15745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920181"/>
            <a:ext cx="6400800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</a:t>
            </a:r>
            <a:r>
              <a:rPr lang="en-US" err="1"/>
              <a:t>Roboto</a:t>
            </a:r>
            <a:r>
              <a:rPr lang="en-US"/>
              <a:t> Regular 21 Point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60547" y="5289435"/>
            <a:ext cx="640080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</a:t>
            </a:r>
            <a:r>
              <a:rPr lang="en-US" err="1"/>
              <a:t>Roboto</a:t>
            </a:r>
            <a:r>
              <a:rPr lang="en-US"/>
              <a:t> Italic 21 Point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89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4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5" y="545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09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rgbClr val="FF4D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1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rgbClr val="FF4D0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54 </a:t>
            </a:r>
            <a:r>
              <a:rPr lang="en-US" err="1"/>
              <a:t>pt</a:t>
            </a:r>
            <a:r>
              <a:rPr lang="en-US"/>
              <a:t> – up to three lines.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/>
          <p:cNvSpPr/>
          <p:nvPr userDrawn="1"/>
        </p:nvSpPr>
        <p:spPr>
          <a:xfrm rot="16200000">
            <a:off x="11261306" y="5930479"/>
            <a:ext cx="1313572" cy="541469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 userDrawn="1"/>
        </p:nvSpPr>
        <p:spPr>
          <a:xfrm rot="10800000">
            <a:off x="9585960" y="0"/>
            <a:ext cx="2602865" cy="2217420"/>
          </a:xfrm>
          <a:prstGeom prst="rtTriangle">
            <a:avLst/>
          </a:prstGeom>
          <a:solidFill>
            <a:srgbClr val="FF4D0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0" y="0"/>
            <a:ext cx="10367594" cy="6858000"/>
          </a:xfrm>
          <a:custGeom>
            <a:avLst/>
            <a:gdLst>
              <a:gd name="connsiteX0" fmla="*/ 0 w 10367594"/>
              <a:gd name="connsiteY0" fmla="*/ 0 h 6858000"/>
              <a:gd name="connsiteX1" fmla="*/ 10367594 w 10367594"/>
              <a:gd name="connsiteY1" fmla="*/ 0 h 6858000"/>
              <a:gd name="connsiteX2" fmla="*/ 3509594 w 10367594"/>
              <a:gd name="connsiteY2" fmla="*/ 6858000 h 6858000"/>
              <a:gd name="connsiteX3" fmla="*/ 1520714 w 10367594"/>
              <a:gd name="connsiteY3" fmla="*/ 6858000 h 6858000"/>
              <a:gd name="connsiteX4" fmla="*/ 0 w 10367594"/>
              <a:gd name="connsiteY4" fmla="*/ 55444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7594" h="6858000">
                <a:moveTo>
                  <a:pt x="0" y="0"/>
                </a:moveTo>
                <a:lnTo>
                  <a:pt x="10367594" y="0"/>
                </a:lnTo>
                <a:lnTo>
                  <a:pt x="3509594" y="6858000"/>
                </a:lnTo>
                <a:lnTo>
                  <a:pt x="1520714" y="6858000"/>
                </a:lnTo>
                <a:lnTo>
                  <a:pt x="0" y="5544428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>
            <a:off x="0" y="5544428"/>
            <a:ext cx="1523890" cy="1313572"/>
          </a:xfrm>
          <a:custGeom>
            <a:avLst/>
            <a:gdLst>
              <a:gd name="connsiteX0" fmla="*/ 3176 w 1523890"/>
              <a:gd name="connsiteY0" fmla="*/ 0 h 1313572"/>
              <a:gd name="connsiteX1" fmla="*/ 1523890 w 1523890"/>
              <a:gd name="connsiteY1" fmla="*/ 1313572 h 1313572"/>
              <a:gd name="connsiteX2" fmla="*/ 0 w 1523890"/>
              <a:gd name="connsiteY2" fmla="*/ 420643 h 1313572"/>
              <a:gd name="connsiteX3" fmla="*/ 0 w 1523890"/>
              <a:gd name="connsiteY3" fmla="*/ 17461 h 131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890" h="1313572">
                <a:moveTo>
                  <a:pt x="3176" y="0"/>
                </a:moveTo>
                <a:lnTo>
                  <a:pt x="1523890" y="1313572"/>
                </a:lnTo>
                <a:lnTo>
                  <a:pt x="0" y="420643"/>
                </a:lnTo>
                <a:lnTo>
                  <a:pt x="0" y="17461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888999"/>
            <a:ext cx="5394648" cy="4079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Text here, </a:t>
            </a:r>
            <a:r>
              <a:rPr lang="en-US" err="1"/>
              <a:t>Roboto</a:t>
            </a:r>
            <a:r>
              <a:rPr lang="en-US"/>
              <a:t> Regular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5975"/>
            <a:ext cx="5394648" cy="17768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Title Here, </a:t>
            </a:r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000307"/>
            <a:ext cx="3497769" cy="1172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Subtitle here, </a:t>
            </a:r>
            <a:r>
              <a:rPr lang="en-US" err="1"/>
              <a:t>Roboto</a:t>
            </a:r>
            <a:r>
              <a:rPr lang="en-US"/>
              <a:t> Regular 28 point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8" y="0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9520153" cy="3474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1160547" y="2063006"/>
            <a:ext cx="9520153" cy="3474194"/>
          </a:xfrm>
        </p:spPr>
        <p:txBody>
          <a:bodyPr/>
          <a:lstStyle>
            <a:lvl1pPr marL="0" indent="0">
              <a:buNone/>
              <a:defRPr sz="5400" b="0" i="0"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7" name="Right Triangle 6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1" name="Right Triangle 10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107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3967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00" y="6197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8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07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11" name="Right Triangle 10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485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17530" y="1854199"/>
            <a:ext cx="1066011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20 point, no longer than one line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5" name="Right Triangle 14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1017588" y="2290762"/>
            <a:ext cx="10660062" cy="3714751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10667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557011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0" name="Right Triangle 9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946527" y="1716140"/>
            <a:ext cx="2718840" cy="297338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97642" y="1854200"/>
            <a:ext cx="6219384" cy="111924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40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/>
              <a:t>Presenter’s Name goes here, </a:t>
            </a:r>
            <a:r>
              <a:rPr lang="en-US" err="1"/>
              <a:t>Roboto</a:t>
            </a:r>
            <a:r>
              <a:rPr lang="en-US"/>
              <a:t> Light 40 point</a:t>
            </a:r>
          </a:p>
        </p:txBody>
      </p:sp>
      <p:sp>
        <p:nvSpPr>
          <p:cNvPr id="1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5205334" y="3110084"/>
            <a:ext cx="6224666" cy="815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Title goes here, </a:t>
            </a: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205334" y="3925222"/>
            <a:ext cx="6224666" cy="764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email/contact info goes here,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57201"/>
            <a:ext cx="11195177" cy="1047748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30" y="1854200"/>
            <a:ext cx="10107670" cy="38324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100" i="1" baseline="0"/>
            </a:lvl1pPr>
            <a:lvl2pPr marL="169863" indent="0" algn="r">
              <a:spcAft>
                <a:spcPts val="0"/>
              </a:spcAft>
              <a:buNone/>
              <a:defRPr sz="1400" b="1" i="0" baseline="0">
                <a:solidFill>
                  <a:schemeClr val="accent1"/>
                </a:solidFill>
                <a:latin typeface="Roboto" charset="0"/>
                <a:ea typeface="Roboto" charset="0"/>
                <a:cs typeface="Roboto" charset="0"/>
              </a:defRPr>
            </a:lvl2pPr>
          </a:lstStyle>
          <a:p>
            <a:pPr lvl="0"/>
            <a:r>
              <a:rPr lang="en-US"/>
              <a:t>Quote goes here, </a:t>
            </a:r>
            <a:r>
              <a:rPr lang="en-US" err="1"/>
              <a:t>Roboto</a:t>
            </a:r>
            <a:r>
              <a:rPr lang="en-US"/>
              <a:t> Italic, size can be increased depending on length of quote</a:t>
            </a:r>
          </a:p>
          <a:p>
            <a:pPr lvl="1"/>
            <a:r>
              <a:rPr lang="en-US"/>
              <a:t>Attribution goes here, </a:t>
            </a:r>
            <a:r>
              <a:rPr lang="en-US" err="1"/>
              <a:t>Roboto</a:t>
            </a:r>
            <a:r>
              <a:rPr lang="en-US"/>
              <a:t> Bold 14 point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5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rgbClr val="FF4D00">
              <a:alpha val="90000"/>
            </a:srgbClr>
          </a:solidFill>
          <a:ln>
            <a:noFill/>
          </a:ln>
        </p:spPr>
        <p:txBody>
          <a:bodyPr vert="horz" wrap="square" lIns="60944" tIns="30472" rIns="60944" bIns="30472" numCol="1" anchor="t" anchorCtr="0" compatLnSpc="1">
            <a:prstTxWarp prst="textNoShape">
              <a:avLst/>
            </a:prstTxWarp>
          </a:bodyPr>
          <a:lstStyle/>
          <a:p>
            <a:r>
              <a:rPr lang="en-US" sz="1200"/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6" y="1610"/>
            <a:ext cx="9595159" cy="6865102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3"/>
            <a:ext cx="6487721" cy="4409962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rgbClr val="FF4D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7" y="5935979"/>
            <a:ext cx="342765" cy="92202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9" name="Freeform: Shape 8"/>
          <p:cNvSpPr/>
          <p:nvPr userDrawn="1"/>
        </p:nvSpPr>
        <p:spPr>
          <a:xfrm>
            <a:off x="1891576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rgbClr val="FF7D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2113110"/>
            <a:ext cx="5702946" cy="42689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</a:t>
            </a:r>
            <a:r>
              <a:rPr lang="en-US" err="1"/>
              <a:t>Roboto</a:t>
            </a:r>
            <a:r>
              <a:rPr lang="en-US"/>
              <a:t>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3103006"/>
            <a:ext cx="7339764" cy="15745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920181"/>
            <a:ext cx="6400800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</a:t>
            </a:r>
            <a:r>
              <a:rPr lang="en-US" err="1"/>
              <a:t>Roboto</a:t>
            </a:r>
            <a:r>
              <a:rPr lang="en-US"/>
              <a:t> Regular 21 Point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60547" y="5289435"/>
            <a:ext cx="640080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</a:t>
            </a:r>
            <a:r>
              <a:rPr lang="en-US" err="1"/>
              <a:t>Roboto</a:t>
            </a:r>
            <a:r>
              <a:rPr lang="en-US"/>
              <a:t> Italic 21 Point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2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89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4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5" y="545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09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rgbClr val="FF4D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1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rgbClr val="FF4D0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54 </a:t>
            </a:r>
            <a:r>
              <a:rPr lang="en-US" err="1"/>
              <a:t>pt</a:t>
            </a:r>
            <a:r>
              <a:rPr lang="en-US"/>
              <a:t> – up to three lines.</a:t>
            </a:r>
          </a:p>
        </p:txBody>
      </p:sp>
    </p:spTree>
    <p:extLst>
      <p:ext uri="{BB962C8B-B14F-4D97-AF65-F5344CB8AC3E}">
        <p14:creationId xmlns:p14="http://schemas.microsoft.com/office/powerpoint/2010/main" val="22471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/>
          <p:cNvSpPr/>
          <p:nvPr userDrawn="1"/>
        </p:nvSpPr>
        <p:spPr>
          <a:xfrm rot="16200000">
            <a:off x="11261306" y="5930479"/>
            <a:ext cx="1313572" cy="541469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 userDrawn="1"/>
        </p:nvSpPr>
        <p:spPr>
          <a:xfrm rot="10800000">
            <a:off x="9585960" y="0"/>
            <a:ext cx="2602865" cy="2217420"/>
          </a:xfrm>
          <a:prstGeom prst="rtTriangle">
            <a:avLst/>
          </a:prstGeom>
          <a:solidFill>
            <a:srgbClr val="FF4D0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0" y="0"/>
            <a:ext cx="10367594" cy="6858000"/>
          </a:xfrm>
          <a:custGeom>
            <a:avLst/>
            <a:gdLst>
              <a:gd name="connsiteX0" fmla="*/ 0 w 10367594"/>
              <a:gd name="connsiteY0" fmla="*/ 0 h 6858000"/>
              <a:gd name="connsiteX1" fmla="*/ 10367594 w 10367594"/>
              <a:gd name="connsiteY1" fmla="*/ 0 h 6858000"/>
              <a:gd name="connsiteX2" fmla="*/ 3509594 w 10367594"/>
              <a:gd name="connsiteY2" fmla="*/ 6858000 h 6858000"/>
              <a:gd name="connsiteX3" fmla="*/ 1520714 w 10367594"/>
              <a:gd name="connsiteY3" fmla="*/ 6858000 h 6858000"/>
              <a:gd name="connsiteX4" fmla="*/ 0 w 10367594"/>
              <a:gd name="connsiteY4" fmla="*/ 55444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7594" h="6858000">
                <a:moveTo>
                  <a:pt x="0" y="0"/>
                </a:moveTo>
                <a:lnTo>
                  <a:pt x="10367594" y="0"/>
                </a:lnTo>
                <a:lnTo>
                  <a:pt x="3509594" y="6858000"/>
                </a:lnTo>
                <a:lnTo>
                  <a:pt x="1520714" y="6858000"/>
                </a:lnTo>
                <a:lnTo>
                  <a:pt x="0" y="5544428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>
            <a:off x="0" y="5544428"/>
            <a:ext cx="1523890" cy="1313572"/>
          </a:xfrm>
          <a:custGeom>
            <a:avLst/>
            <a:gdLst>
              <a:gd name="connsiteX0" fmla="*/ 3176 w 1523890"/>
              <a:gd name="connsiteY0" fmla="*/ 0 h 1313572"/>
              <a:gd name="connsiteX1" fmla="*/ 1523890 w 1523890"/>
              <a:gd name="connsiteY1" fmla="*/ 1313572 h 1313572"/>
              <a:gd name="connsiteX2" fmla="*/ 0 w 1523890"/>
              <a:gd name="connsiteY2" fmla="*/ 420643 h 1313572"/>
              <a:gd name="connsiteX3" fmla="*/ 0 w 1523890"/>
              <a:gd name="connsiteY3" fmla="*/ 17461 h 131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890" h="1313572">
                <a:moveTo>
                  <a:pt x="3176" y="0"/>
                </a:moveTo>
                <a:lnTo>
                  <a:pt x="1523890" y="1313572"/>
                </a:lnTo>
                <a:lnTo>
                  <a:pt x="0" y="420643"/>
                </a:lnTo>
                <a:lnTo>
                  <a:pt x="0" y="17461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888999"/>
            <a:ext cx="5394648" cy="4079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Text here, </a:t>
            </a:r>
            <a:r>
              <a:rPr lang="en-US" err="1"/>
              <a:t>Roboto</a:t>
            </a:r>
            <a:r>
              <a:rPr lang="en-US"/>
              <a:t> Regular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5975"/>
            <a:ext cx="5394648" cy="17768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Title Here, </a:t>
            </a:r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000307"/>
            <a:ext cx="3497769" cy="1172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Subtitle here, </a:t>
            </a:r>
            <a:r>
              <a:rPr lang="en-US" err="1"/>
              <a:t>Roboto</a:t>
            </a:r>
            <a:r>
              <a:rPr lang="en-US"/>
              <a:t> Regular 28 point</a:t>
            </a:r>
          </a:p>
        </p:txBody>
      </p:sp>
    </p:spTree>
    <p:extLst>
      <p:ext uri="{BB962C8B-B14F-4D97-AF65-F5344CB8AC3E}">
        <p14:creationId xmlns:p14="http://schemas.microsoft.com/office/powerpoint/2010/main" val="651717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8" y="0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9520153" cy="3474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</p:spTree>
    <p:extLst>
      <p:ext uri="{BB962C8B-B14F-4D97-AF65-F5344CB8AC3E}">
        <p14:creationId xmlns:p14="http://schemas.microsoft.com/office/powerpoint/2010/main" val="3563983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1160547" y="2063006"/>
            <a:ext cx="9520153" cy="3474194"/>
          </a:xfrm>
        </p:spPr>
        <p:txBody>
          <a:bodyPr/>
          <a:lstStyle>
            <a:lvl1pPr marL="0" indent="0">
              <a:buNone/>
              <a:defRPr sz="5400" b="0" i="0"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7" name="Right Triangle 6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1" name="Right Triangle 10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697563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735053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00" y="6197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8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25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11" name="Right Triangle 10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485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17530" y="1854199"/>
            <a:ext cx="1066011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20 point, no longer than one line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5" name="Right Triangle 14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1017588" y="2290762"/>
            <a:ext cx="10660062" cy="3714751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1408662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10667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557011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78949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416919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0" name="Right Triangle 9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946527" y="1716140"/>
            <a:ext cx="2718840" cy="297338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97642" y="1854200"/>
            <a:ext cx="6219384" cy="111924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40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/>
              <a:t>Presenter’s Name goes here, </a:t>
            </a:r>
            <a:r>
              <a:rPr lang="en-US" err="1"/>
              <a:t>Roboto</a:t>
            </a:r>
            <a:r>
              <a:rPr lang="en-US"/>
              <a:t> Light 40 point</a:t>
            </a:r>
          </a:p>
        </p:txBody>
      </p:sp>
      <p:sp>
        <p:nvSpPr>
          <p:cNvPr id="1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5205334" y="3110084"/>
            <a:ext cx="6224666" cy="815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Title goes here, </a:t>
            </a: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205334" y="3925222"/>
            <a:ext cx="6224666" cy="764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email/contact info goes here,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</p:spTree>
    <p:extLst>
      <p:ext uri="{BB962C8B-B14F-4D97-AF65-F5344CB8AC3E}">
        <p14:creationId xmlns:p14="http://schemas.microsoft.com/office/powerpoint/2010/main" val="2693807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57201"/>
            <a:ext cx="11195177" cy="1047748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30" y="1854200"/>
            <a:ext cx="10107670" cy="38324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100" i="1" baseline="0"/>
            </a:lvl1pPr>
            <a:lvl2pPr marL="169863" indent="0" algn="r">
              <a:spcAft>
                <a:spcPts val="0"/>
              </a:spcAft>
              <a:buNone/>
              <a:defRPr sz="1400" b="1" i="0" baseline="0">
                <a:solidFill>
                  <a:schemeClr val="accent1"/>
                </a:solidFill>
                <a:latin typeface="Roboto" charset="0"/>
                <a:ea typeface="Roboto" charset="0"/>
                <a:cs typeface="Roboto" charset="0"/>
              </a:defRPr>
            </a:lvl2pPr>
          </a:lstStyle>
          <a:p>
            <a:pPr lvl="0"/>
            <a:r>
              <a:rPr lang="en-US"/>
              <a:t>Quote goes here, </a:t>
            </a:r>
            <a:r>
              <a:rPr lang="en-US" err="1"/>
              <a:t>Roboto</a:t>
            </a:r>
            <a:r>
              <a:rPr lang="en-US"/>
              <a:t> Italic, size can be increased depending on length of quote</a:t>
            </a:r>
          </a:p>
          <a:p>
            <a:pPr lvl="1"/>
            <a:r>
              <a:rPr lang="en-US"/>
              <a:t>Attribution goes here, </a:t>
            </a:r>
            <a:r>
              <a:rPr lang="en-US" err="1"/>
              <a:t>Roboto</a:t>
            </a:r>
            <a:r>
              <a:rPr lang="en-US"/>
              <a:t> Bold 14 point</a:t>
            </a:r>
          </a:p>
        </p:txBody>
      </p:sp>
    </p:spTree>
    <p:extLst>
      <p:ext uri="{BB962C8B-B14F-4D97-AF65-F5344CB8AC3E}">
        <p14:creationId xmlns:p14="http://schemas.microsoft.com/office/powerpoint/2010/main" val="2698721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/Subtitle/Headlines &amp; 2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5624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5BDB60F-DCDA-4FA8-AFD2-4EF745C79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113" y="2290762"/>
            <a:ext cx="5068887" cy="37290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7151" y="1854199"/>
            <a:ext cx="506726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Headline, Roboto 20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1019" y="2290762"/>
            <a:ext cx="5466632" cy="37290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11019" y="1854199"/>
            <a:ext cx="5484094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20 point bold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DBF31F-B2A6-46A8-A8DF-757C9B83724C}"/>
              </a:ext>
            </a:extLst>
          </p:cNvPr>
          <p:cNvGrpSpPr/>
          <p:nvPr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665E3932-8847-406B-8673-1AB6E7E0C689}"/>
                </a:ext>
              </a:extLst>
            </p:cNvPr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ight Triangle 39">
              <a:extLst>
                <a:ext uri="{FF2B5EF4-FFF2-40B4-BE49-F238E27FC236}">
                  <a16:creationId xmlns:a16="http://schemas.microsoft.com/office/drawing/2014/main" id="{8BCEA0AA-827B-4741-B47D-AC893583D56C}"/>
                </a:ext>
              </a:extLst>
            </p:cNvPr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5528CA7-31B3-4290-8E8B-1E3E3562E906}"/>
              </a:ext>
            </a:extLst>
          </p:cNvPr>
          <p:cNvSpPr txBox="1"/>
          <p:nvPr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3AF2C-00A5-4EEE-9565-3DF3EA952EEC}"/>
              </a:ext>
            </a:extLst>
          </p:cNvPr>
          <p:cNvSpPr txBox="1"/>
          <p:nvPr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B87D99-2D97-4A3F-AB8F-AEF776CAAF3C}"/>
              </a:ext>
            </a:extLst>
          </p:cNvPr>
          <p:cNvSpPr txBox="1"/>
          <p:nvPr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FA2D62-F8B0-D646-956F-5CEE165645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0616" y="6007608"/>
            <a:ext cx="2478024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5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88824" cy="6856215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90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5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7" y="546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10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-744" y="-1787"/>
            <a:ext cx="12193513" cy="6859787"/>
          </a:xfrm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0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2063007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4096194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824" cy="6858000"/>
          </a:xfrm>
          <a:prstGeom prst="rect">
            <a:avLst/>
          </a:prstGeom>
        </p:spPr>
      </p:pic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6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60928" tIns="30464" rIns="60928" bIns="30464" numCol="1" anchor="t" anchorCtr="0" compatLnSpc="1">
            <a:prstTxWarp prst="textNoShape">
              <a:avLst/>
            </a:prstTxWarp>
          </a:bodyPr>
          <a:lstStyle/>
          <a:p>
            <a:r>
              <a:rPr lang="en-US" sz="1200">
                <a:solidFill>
                  <a:srgbClr val="373737"/>
                </a:solidFill>
              </a:rPr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5" y="1610"/>
            <a:ext cx="9595159" cy="6865103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4"/>
            <a:ext cx="6487721" cy="4409963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9" y="5935980"/>
            <a:ext cx="342765" cy="92202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9" name="Freeform: Shape 8"/>
          <p:cNvSpPr/>
          <p:nvPr userDrawn="1"/>
        </p:nvSpPr>
        <p:spPr>
          <a:xfrm>
            <a:off x="1891575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12188822" cy="6857999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82239" y="2113109"/>
            <a:ext cx="2282231" cy="4268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399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04.01.17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3103006"/>
            <a:ext cx="7339764" cy="1574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98514" y="4920181"/>
            <a:ext cx="3497769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86163" y="5289437"/>
            <a:ext cx="351012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Speaker Title or Email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1" y="6006042"/>
            <a:ext cx="2464597" cy="8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52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90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5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7" y="546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10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0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2063007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rgbClr val="343433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752352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9" y="1"/>
            <a:ext cx="585128" cy="157517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2" y="0"/>
            <a:ext cx="1218882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5"/>
            <a:ext cx="9520153" cy="3474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3759684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2601" y="1658242"/>
            <a:ext cx="11195051" cy="4361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308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9" y="1147982"/>
            <a:ext cx="11183937" cy="331601"/>
          </a:xfrm>
        </p:spPr>
        <p:txBody>
          <a:bodyPr anchor="t"/>
          <a:lstStyle>
            <a:lvl1pPr marL="0" indent="0">
              <a:buNone/>
              <a:defRPr sz="2399" i="0">
                <a:solidFill>
                  <a:schemeClr val="bg1">
                    <a:lumMod val="50000"/>
                  </a:schemeClr>
                </a:solidFill>
              </a:defRPr>
            </a:lvl1pPr>
            <a:lvl2pPr marL="169820" indent="0">
              <a:buNone/>
              <a:defRPr/>
            </a:lvl2pPr>
            <a:lvl3pPr marL="344401" indent="0">
              <a:buNone/>
              <a:defRPr/>
            </a:lvl3pPr>
            <a:lvl4pPr marL="458673" indent="0">
              <a:buNone/>
              <a:defRPr/>
            </a:lvl4pPr>
            <a:lvl5pPr marL="63008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93713" y="2178019"/>
            <a:ext cx="11183937" cy="3662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6734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9" y="1147982"/>
            <a:ext cx="11183937" cy="331601"/>
          </a:xfrm>
        </p:spPr>
        <p:txBody>
          <a:bodyPr anchor="t"/>
          <a:lstStyle>
            <a:lvl1pPr marL="0" indent="0">
              <a:buNone/>
              <a:defRPr sz="2399" i="0">
                <a:solidFill>
                  <a:schemeClr val="bg1">
                    <a:lumMod val="50000"/>
                  </a:schemeClr>
                </a:solidFill>
              </a:defRPr>
            </a:lvl1pPr>
            <a:lvl2pPr marL="169820" indent="0">
              <a:buNone/>
              <a:defRPr/>
            </a:lvl2pPr>
            <a:lvl3pPr marL="344401" indent="0">
              <a:buNone/>
              <a:defRPr/>
            </a:lvl3pPr>
            <a:lvl4pPr marL="458673" indent="0">
              <a:buNone/>
              <a:defRPr/>
            </a:lvl4pPr>
            <a:lvl5pPr marL="63008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493713" y="1713926"/>
            <a:ext cx="11183936" cy="5768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6995" indent="0">
              <a:buNone/>
              <a:defRPr sz="2000" b="1"/>
            </a:lvl2pPr>
            <a:lvl3pPr marL="913989" indent="0">
              <a:buNone/>
              <a:defRPr sz="1800" b="1"/>
            </a:lvl3pPr>
            <a:lvl4pPr marL="1370984" indent="0">
              <a:buNone/>
              <a:defRPr sz="1600" b="1"/>
            </a:lvl4pPr>
            <a:lvl5pPr marL="1827978" indent="0">
              <a:buNone/>
              <a:defRPr sz="1600" b="1"/>
            </a:lvl5pPr>
            <a:lvl6pPr marL="2284971" indent="0">
              <a:buNone/>
              <a:defRPr sz="1600" b="1"/>
            </a:lvl6pPr>
            <a:lvl7pPr marL="2741965" indent="0">
              <a:buNone/>
              <a:defRPr sz="1600" b="1"/>
            </a:lvl7pPr>
            <a:lvl8pPr marL="3198960" indent="0">
              <a:buNone/>
              <a:defRPr sz="1600" b="1"/>
            </a:lvl8pPr>
            <a:lvl9pPr marL="3655955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93713" y="2522640"/>
            <a:ext cx="11183937" cy="331757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18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5"/>
            <a:ext cx="9520153" cy="3474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370666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3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/>
          <p:cNvSpPr>
            <a:spLocks noGrp="1"/>
          </p:cNvSpPr>
          <p:nvPr userDrawn="1">
            <p:ph type="title"/>
          </p:nvPr>
        </p:nvSpPr>
        <p:spPr>
          <a:xfrm>
            <a:off x="482474" y="482602"/>
            <a:ext cx="11195177" cy="1066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  <p:sp>
        <p:nvSpPr>
          <p:cNvPr id="38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017530" y="1849301"/>
            <a:ext cx="10660120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693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3" r:id="rId3"/>
    <p:sldLayoutId id="2147483712" r:id="rId4"/>
    <p:sldLayoutId id="2147483698" r:id="rId5"/>
    <p:sldLayoutId id="2147483710" r:id="rId6"/>
    <p:sldLayoutId id="2147483708" r:id="rId7"/>
    <p:sldLayoutId id="2147483709" r:id="rId8"/>
    <p:sldLayoutId id="2147483716" r:id="rId9"/>
    <p:sldLayoutId id="2147483720" r:id="rId10"/>
    <p:sldLayoutId id="2147483714" r:id="rId11"/>
    <p:sldLayoutId id="2147483715" r:id="rId12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3038" indent="-173038" algn="l" defTabSz="914217" rtl="0" eaLnBrk="1" latinLnBrk="0" hangingPunct="1">
        <a:lnSpc>
          <a:spcPct val="90000"/>
        </a:lnSpc>
        <a:spcBef>
          <a:spcPts val="4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 userDrawn="1">
          <p15:clr>
            <a:srgbClr val="F26B43"/>
          </p15:clr>
        </p15:guide>
        <p15:guide id="5" orient="horz" pos="4008" userDrawn="1">
          <p15:clr>
            <a:srgbClr val="F26B43"/>
          </p15:clr>
        </p15:guide>
        <p15:guide id="6" pos="7356" userDrawn="1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 userDrawn="1">
          <p15:clr>
            <a:srgbClr val="F26B43"/>
          </p15:clr>
        </p15:guide>
        <p15:guide id="12" pos="2554" userDrawn="1">
          <p15:clr>
            <a:srgbClr val="F26B43"/>
          </p15:clr>
        </p15:guide>
        <p15:guide id="13" pos="5123" userDrawn="1">
          <p15:clr>
            <a:srgbClr val="F26B43"/>
          </p15:clr>
        </p15:guide>
        <p15:guide id="14" orient="horz" pos="1443" userDrawn="1">
          <p15:clr>
            <a:srgbClr val="F26B43"/>
          </p15:clr>
        </p15:guide>
        <p15:guide id="15" orient="horz" pos="2886" userDrawn="1">
          <p15:clr>
            <a:srgbClr val="F26B43"/>
          </p15:clr>
        </p15:guide>
        <p15:guide id="16" orient="horz" pos="856" userDrawn="1">
          <p15:clr>
            <a:srgbClr val="F26B43"/>
          </p15:clr>
        </p15:guide>
        <p15:guide id="17" orient="horz" pos="1168" userDrawn="1">
          <p15:clr>
            <a:srgbClr val="F26B43"/>
          </p15:clr>
        </p15:guide>
        <p15:guide id="18" pos="632" userDrawn="1">
          <p15:clr>
            <a:srgbClr val="F26B43"/>
          </p15:clr>
        </p15:guide>
        <p15:guide id="19" orient="horz" pos="3792" userDrawn="1">
          <p15:clr>
            <a:srgbClr val="F26B43"/>
          </p15:clr>
        </p15:guide>
        <p15:guide id="20" pos="71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/>
          <p:cNvSpPr>
            <a:spLocks noGrp="1"/>
          </p:cNvSpPr>
          <p:nvPr userDrawn="1">
            <p:ph type="title"/>
          </p:nvPr>
        </p:nvSpPr>
        <p:spPr>
          <a:xfrm>
            <a:off x="482474" y="482602"/>
            <a:ext cx="11195177" cy="1066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  <p:sp>
        <p:nvSpPr>
          <p:cNvPr id="38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017530" y="1849301"/>
            <a:ext cx="10660120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677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833" r:id="rId1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3038" indent="-173038" algn="l" defTabSz="914217" rtl="0" eaLnBrk="1" latinLnBrk="0" hangingPunct="1">
        <a:lnSpc>
          <a:spcPct val="90000"/>
        </a:lnSpc>
        <a:spcBef>
          <a:spcPts val="4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17" orient="horz" pos="1168">
          <p15:clr>
            <a:srgbClr val="F26B43"/>
          </p15:clr>
        </p15:guide>
        <p15:guide id="18" pos="632">
          <p15:clr>
            <a:srgbClr val="F26B43"/>
          </p15:clr>
        </p15:guide>
        <p15:guide id="19" orient="horz" pos="3792">
          <p15:clr>
            <a:srgbClr val="F26B43"/>
          </p15:clr>
        </p15:guide>
        <p15:guide id="20" pos="71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-2141" y="-1"/>
            <a:ext cx="12190967" cy="6858000"/>
          </a:xfrm>
          <a:prstGeom prst="rect">
            <a:avLst/>
          </a:prstGeom>
          <a:blipFill dpi="0" rotWithShape="1">
            <a:blip r:embed="rId10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4" name="Right Triangle 33"/>
          <p:cNvSpPr/>
          <p:nvPr/>
        </p:nvSpPr>
        <p:spPr>
          <a:xfrm rot="16200000" flipV="1">
            <a:off x="2196031" y="3357866"/>
            <a:ext cx="1314232" cy="56983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3" name="Right Triangle 32"/>
          <p:cNvSpPr/>
          <p:nvPr/>
        </p:nvSpPr>
        <p:spPr>
          <a:xfrm>
            <a:off x="-2140" y="3581400"/>
            <a:ext cx="833414" cy="3276600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1" y="6006042"/>
            <a:ext cx="2464597" cy="851959"/>
          </a:xfrm>
          <a:prstGeom prst="rect">
            <a:avLst/>
          </a:prstGeom>
        </p:spPr>
      </p:pic>
      <p:sp>
        <p:nvSpPr>
          <p:cNvPr id="8" name="Right Triangle 7"/>
          <p:cNvSpPr/>
          <p:nvPr/>
        </p:nvSpPr>
        <p:spPr>
          <a:xfrm flipH="1" flipV="1">
            <a:off x="11603699" y="0"/>
            <a:ext cx="585128" cy="157517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3174" y="6359525"/>
            <a:ext cx="3117657" cy="17907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r>
              <a:rPr lang="en-US" sz="1100">
                <a:solidFill>
                  <a:srgbClr val="FFFFFF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7" name="Title Placeholder 1"/>
          <p:cNvSpPr>
            <a:spLocks noGrp="1"/>
          </p:cNvSpPr>
          <p:nvPr>
            <p:ph type="title"/>
          </p:nvPr>
        </p:nvSpPr>
        <p:spPr>
          <a:xfrm>
            <a:off x="482474" y="457203"/>
            <a:ext cx="11195177" cy="6540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en-US"/>
          </a:p>
        </p:txBody>
      </p:sp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493713" y="1849302"/>
            <a:ext cx="11183937" cy="42204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70192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txStyles>
    <p:titleStyle>
      <a:lvl1pPr algn="l" defTabSz="913989" rtl="0" eaLnBrk="1" latinLnBrk="0" hangingPunct="1">
        <a:lnSpc>
          <a:spcPct val="90000"/>
        </a:lnSpc>
        <a:spcBef>
          <a:spcPct val="0"/>
        </a:spcBef>
        <a:buNone/>
        <a:defRPr sz="3599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2995" indent="-172995" algn="l" defTabSz="913989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099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02" indent="-174582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222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081" indent="-171408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799900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171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3992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573" indent="-174582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393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9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89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84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78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71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6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60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5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237" y="2088270"/>
            <a:ext cx="9733457" cy="1574502"/>
          </a:xfrm>
        </p:spPr>
        <p:txBody>
          <a:bodyPr/>
          <a:lstStyle/>
          <a:p>
            <a:r>
              <a:rPr lang="en-US" sz="4800" dirty="0"/>
              <a:t>CDGC</a:t>
            </a:r>
          </a:p>
          <a:p>
            <a:r>
              <a:rPr lang="en-US" sz="4800" dirty="0"/>
              <a:t>Snowflake Updater</a:t>
            </a:r>
          </a:p>
          <a:p>
            <a:r>
              <a:rPr lang="en-US" sz="4800" dirty="0"/>
              <a:t>Prototype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1757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7"/>
    </mc:Choice>
    <mc:Fallback xmlns="">
      <p:transition spd="slow" advTm="14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trying to do?</a:t>
            </a:r>
            <a:endParaRPr lang="en-IN" dirty="0"/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807EB0DB-72EF-4CAE-8A2F-F7E55C093081}"/>
              </a:ext>
            </a:extLst>
          </p:cNvPr>
          <p:cNvSpPr txBox="1">
            <a:spLocks/>
          </p:cNvSpPr>
          <p:nvPr/>
        </p:nvSpPr>
        <p:spPr>
          <a:xfrm>
            <a:off x="1180247" y="1610532"/>
            <a:ext cx="3180631" cy="25624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3038" indent="-173038" algn="l" defTabSz="914217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100" b="0" i="0" kern="120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344488" indent="-174625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2pPr>
            <a:lvl3pPr marL="514350" indent="-169863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3pPr>
            <a:lvl4pPr marL="630238" indent="-171450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4pPr>
            <a:lvl5pPr marL="800100" indent="-169863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5pPr>
            <a:lvl6pPr marL="914400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6pPr>
            <a:lvl7pPr marL="1084263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7pPr>
            <a:lvl8pPr marL="1258888" indent="-174625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8pPr>
            <a:lvl9pPr marL="1428750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9pPr>
          </a:lstStyle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013254" y="1754659"/>
            <a:ext cx="10490887" cy="4090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At time of writing (May 2026), the CDGC Snowflake Write Back had several limitations:</a:t>
            </a: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Required uploading a spreadsheet — defeating the purpose of automation.</a:t>
            </a: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Only supported classifications, not business terms or policies.</a:t>
            </a: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100" dirty="0">
              <a:latin typeface="Roboto" charset="0"/>
              <a:ea typeface="Roboto" charset="0"/>
              <a:cs typeface="Roboto" charset="0"/>
            </a:endParaRP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Supports Business Terms, Classifications, Policies, DQ Scores, and Descriptions.</a:t>
            </a: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Tags are auto-created in Snowflake if they do not exist (requires CREATE TAG privilege).</a:t>
            </a:r>
          </a:p>
          <a:p>
            <a:pPr marL="342900" lvl="1" indent="-3429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Interactive --update-config mode for guided setup including password encryption.</a:t>
            </a:r>
          </a:p>
        </p:txBody>
      </p:sp>
    </p:spTree>
    <p:extLst>
      <p:ext uri="{BB962C8B-B14F-4D97-AF65-F5344CB8AC3E}">
        <p14:creationId xmlns:p14="http://schemas.microsoft.com/office/powerpoint/2010/main" val="323320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approach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000897" y="1209048"/>
            <a:ext cx="10775091" cy="27451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Write a Python script that overcomes these challenges!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2100" dirty="0">
              <a:latin typeface="Roboto" charset="0"/>
              <a:ea typeface="Roboto" charset="0"/>
              <a:cs typeface="Roboto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2100" dirty="0">
                <a:latin typeface="Roboto" charset="0"/>
                <a:ea typeface="Roboto" charset="0"/>
                <a:cs typeface="Roboto" charset="0"/>
              </a:rPr>
              <a:t>One word of caution. This approach is currently using the advanced internal APIs, which are not public, and may go away.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2100" dirty="0">
              <a:latin typeface="Roboto" charset="0"/>
              <a:ea typeface="Roboto" charset="0"/>
              <a:cs typeface="Roboto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2100" dirty="0"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17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237" y="2088270"/>
            <a:ext cx="9733457" cy="1574502"/>
          </a:xfrm>
        </p:spPr>
        <p:txBody>
          <a:bodyPr/>
          <a:lstStyle/>
          <a:p>
            <a:r>
              <a:rPr lang="en-US" sz="4800" dirty="0"/>
              <a:t>CDGC</a:t>
            </a:r>
          </a:p>
          <a:p>
            <a:r>
              <a:rPr lang="en-US" sz="4800" dirty="0"/>
              <a:t>Snowflake Updater</a:t>
            </a:r>
          </a:p>
          <a:p>
            <a:r>
              <a:rPr lang="en-US" sz="4800" dirty="0"/>
              <a:t>Prototype</a:t>
            </a:r>
            <a:endParaRPr lang="en-US" sz="4400" dirty="0"/>
          </a:p>
          <a:p>
            <a:endParaRPr lang="en-US" sz="4800" dirty="0"/>
          </a:p>
          <a:p>
            <a:r>
              <a:rPr lang="en-US" sz="4800" dirty="0"/>
              <a:t>Setup &amp; Running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214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7"/>
    </mc:Choice>
    <mc:Fallback xmlns="">
      <p:transition spd="slow" advTm="14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Step 1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717589" y="1707353"/>
            <a:ext cx="8723870" cy="9617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Using "pip" ensure the required libraries are installed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pip install -r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59675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Step 2 — Configure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717589" y="1707353"/>
            <a:ext cx="8723870" cy="9740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Run the --update-config option to interactively set up config.ini.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dirty="0">
              <a:latin typeface="Roboto" charset="0"/>
              <a:ea typeface="Roboto" charset="0"/>
              <a:cs typeface="Roboto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dirty="0">
              <a:latin typeface="Roboto" charset="0"/>
              <a:ea typeface="Roboto" charset="0"/>
              <a:cs typeface="Roboto" charset="0"/>
            </a:endParaRPr>
          </a:p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8503920" cy="4983480"/>
          </a:xfrm>
          <a:prstGeom prst="rect">
            <a:avLst/>
          </a:prstGeom>
          <a:solidFill>
            <a:srgbClr val="1E1E1E"/>
          </a:solidFill>
        </p:spPr>
        <p:txBody>
          <a:bodyPr wrap="none" lIns="101600" tIns="76200" rIns="101600" bIns="762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$ python snowflake_updater.py --update-config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4EC97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Updating: config.ini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Leave any prompt blank to keep the current value.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BBBBBB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D700"/>
                </a:solidFill>
                <a:latin typeface="Courier New"/>
              </a:rPr>
              <a:t>[IDMC]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username: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shayes_compass</a:t>
            </a:r>
            <a:endParaRPr sz="850" dirty="0">
              <a:solidFill>
                <a:srgbClr val="9CDCFE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encrypted_password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: [currently set — encrypted]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D700"/>
                </a:solidFill>
                <a:latin typeface="Courier New"/>
              </a:rPr>
              <a:t>  NOTE: Enter a plaintext password — it will be encrypted and stored.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password: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  Password encrypted and saved.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pod: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dmp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-us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catalog_resource_name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: NSEN Snowflake Retail Marketing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BBBBBB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D700"/>
                </a:solidFill>
                <a:latin typeface="Courier New"/>
              </a:rPr>
              <a:t>[Snowflake]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account: eeb76041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database: NSEN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username: SHAYES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encrypted_password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: [currently set — encrypted]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D700"/>
                </a:solidFill>
                <a:latin typeface="Courier New"/>
              </a:rPr>
              <a:t>  NOTE: Enter a plaintext password — it will be encrypted and stored.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password: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  Password encrypted and saved.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role: ACCOUNTADMIN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new value (leave blank to keep):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private_key_file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path to .p8 key file, or leave blank to use password: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9CDCFE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9CDCFE"/>
                </a:solidFill>
                <a:latin typeface="Courier New"/>
              </a:rPr>
              <a:t>private_key_passphrase</a:t>
            </a:r>
            <a:r>
              <a:rPr sz="850" dirty="0">
                <a:solidFill>
                  <a:srgbClr val="9CDCFE"/>
                </a:solidFill>
                <a:latin typeface="Courier New"/>
              </a:rPr>
              <a:t>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  Enter passphrase, or leave blank if key is unencrypted: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BBBBBB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Config saved to config.ini</a:t>
            </a:r>
          </a:p>
        </p:txBody>
      </p:sp>
    </p:spTree>
    <p:extLst>
      <p:ext uri="{BB962C8B-B14F-4D97-AF65-F5344CB8AC3E}">
        <p14:creationId xmlns:p14="http://schemas.microsoft.com/office/powerpoint/2010/main" val="417030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Step 3 *Optional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068870" y="1045030"/>
            <a:ext cx="10022383" cy="152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The script auto-creates tags using CREATE TAG IF NOT EXISTS at runtime (requires CREATE TAG privilege). Without that privilege, create them manually:</a:t>
            </a:r>
          </a:p>
          <a:p>
            <a:pPr algn="l"/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tag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nsen.nsen.infa_business_term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it-IT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it-IT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tag nsen.nsen.infa_classification</a:t>
            </a:r>
            <a:r>
              <a:rPr lang="it-IT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tag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nsen.nsen.infa_policy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1800" b="1" dirty="0">
              <a:solidFill>
                <a:srgbClr val="FF0000"/>
              </a:solidFill>
              <a:latin typeface="Roboto" charset="0"/>
              <a:ea typeface="Roboto" charset="0"/>
              <a:cs typeface="Roboto" charset="0"/>
            </a:endParaRPr>
          </a:p>
          <a:p>
            <a:pPr algn="l"/>
            <a:endParaRPr lang="en-US" b="1" dirty="0">
              <a:solidFill>
                <a:srgbClr val="FF0000"/>
              </a:solidFill>
              <a:latin typeface="Roboto" charset="0"/>
              <a:ea typeface="Roboto" charset="0"/>
              <a:cs typeface="Roboto" charset="0"/>
            </a:endParaRPr>
          </a:p>
          <a:p>
            <a:pPr algn="l"/>
            <a:endParaRPr lang="en-US" dirty="0">
              <a:latin typeface="Roboto" charset="0"/>
              <a:ea typeface="Roboto" charset="0"/>
              <a:cs typeface="Roboto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dirty="0"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7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479B7-4E1E-475F-B459-5CE8B053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FFC18-4FD7-5E97-CCB3-5E13CE612AEB}"/>
              </a:ext>
            </a:extLst>
          </p:cNvPr>
          <p:cNvSpPr txBox="1"/>
          <p:nvPr/>
        </p:nvSpPr>
        <p:spPr>
          <a:xfrm>
            <a:off x="1334529" y="1045028"/>
            <a:ext cx="4674385" cy="23839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Run the snowflake_updater.py script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python snowflake_updater.py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or with a custom config file:</a:t>
            </a: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python snowflake_updater.py --config myconfig.ini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The script connects to CDGC, evaluates all assets, displays the planned Snowflake statements, and prompts before executing.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Roboto" charset="0"/>
                <a:ea typeface="Roboto" charset="0"/>
                <a:cs typeface="Roboto" charset="0"/>
              </a:rPr>
              <a:t>To update configuration interactively (including re-encrypting passwords):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dirty="0">
              <a:latin typeface="Roboto" charset="0"/>
              <a:ea typeface="Roboto" charset="0"/>
              <a:cs typeface="Roboto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900" b="0" dirty="0">
                <a:solidFill>
                  <a:srgbClr val="FFFFFF"/>
                </a:solidFill>
              </a:rPr>
              <a:t>All output is automatically saved to a timestamped log file in the same directory: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900" b="0" dirty="0">
                <a:solidFill>
                  <a:srgbClr val="FFD700"/>
                </a:solidFill>
              </a:rPr>
              <a:t> </a:t>
            </a:r>
            <a:r>
              <a:rPr lang="en-US" sz="900" b="0" dirty="0"/>
              <a:t>Log is saved to </a:t>
            </a:r>
            <a:r>
              <a:rPr lang="en-US" sz="900" b="0" dirty="0" err="1"/>
              <a:t>run_snowflake_updater</a:t>
            </a:r>
            <a:r>
              <a:rPr lang="en-US" sz="900" b="0" dirty="0"/>
              <a:t>_&lt;YYYYMMDD_HHMMSS&gt;.log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390" y="2150622"/>
            <a:ext cx="5857110" cy="2769989"/>
          </a:xfrm>
          <a:prstGeom prst="rect">
            <a:avLst/>
          </a:prstGeom>
          <a:solidFill>
            <a:srgbClr val="1E1E1E"/>
          </a:solidFill>
        </p:spPr>
        <p:txBody>
          <a:bodyPr wrap="square" lIns="101600" tIns="76200" rIns="101600" bIns="762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$ python snowflake_updater.py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Connecting to Catalog as user </a:t>
            </a:r>
            <a:r>
              <a:rPr sz="850" dirty="0" err="1">
                <a:solidFill>
                  <a:srgbClr val="4EC974"/>
                </a:solidFill>
                <a:latin typeface="Courier New"/>
              </a:rPr>
              <a:t>shayes_compass</a:t>
            </a:r>
            <a:r>
              <a:rPr sz="850" dirty="0">
                <a:solidFill>
                  <a:srgbClr val="4EC974"/>
                </a:solidFill>
                <a:latin typeface="Courier New"/>
              </a:rPr>
              <a:t>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Fetching Policy / Resource / Classification / Business Term Information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Fetching Detailed Information for NSEN Snowflake Retail Marketing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  Fetched 1000 / 3241 objects...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  Fetched 2000 / 3241 objects...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  Fetched 3241 / 3241 objects...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DQ scores calculated for 847 assets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INFO: Adding ALTER TABLE NSEN.NSEN_DW.NS_MKTG_USER SET tag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         </a:t>
            </a:r>
            <a:r>
              <a:rPr sz="850" dirty="0" err="1">
                <a:solidFill>
                  <a:srgbClr val="FFFFFF"/>
                </a:solidFill>
                <a:latin typeface="Courier New"/>
              </a:rPr>
              <a:t>nsen.nsen_dw.infa_business_term</a:t>
            </a:r>
            <a:r>
              <a:rPr sz="850" dirty="0">
                <a:solidFill>
                  <a:srgbClr val="FFFFFF"/>
                </a:solidFill>
                <a:latin typeface="Courier New"/>
              </a:rPr>
              <a:t> = 'Marketing Customer'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INFO: Adding ALTER TABLE NSEN.NSEN_DW.NS_MKTG_USER MODIFY Column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Courier New"/>
              </a:rPr>
              <a:t>         MKTG_EMAIL_ID SET tag </a:t>
            </a:r>
            <a:r>
              <a:rPr sz="850" dirty="0" err="1">
                <a:solidFill>
                  <a:srgbClr val="FFFFFF"/>
                </a:solidFill>
                <a:latin typeface="Courier New"/>
              </a:rPr>
              <a:t>nsen.nsen_dw.infa_dq_score</a:t>
            </a:r>
            <a:r>
              <a:rPr sz="850" dirty="0">
                <a:solidFill>
                  <a:srgbClr val="FFFFFF"/>
                </a:solidFill>
                <a:latin typeface="Courier New"/>
              </a:rPr>
              <a:t> = '93.12'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BBBBBB"/>
                </a:solidFill>
                <a:latin typeface="Courier New"/>
              </a:rPr>
              <a:t>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D700"/>
                </a:solidFill>
                <a:latin typeface="Courier New"/>
              </a:rPr>
              <a:t>Press any key to continue...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50" dirty="0">
              <a:solidFill>
                <a:srgbClr val="FFD70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Tag exists or created: </a:t>
            </a:r>
            <a:r>
              <a:rPr sz="850" dirty="0" err="1">
                <a:solidFill>
                  <a:srgbClr val="4EC974"/>
                </a:solidFill>
                <a:latin typeface="Courier New"/>
              </a:rPr>
              <a:t>nsen.nsen_dw.infa_business_term</a:t>
            </a:r>
            <a:endParaRPr sz="850" dirty="0">
              <a:solidFill>
                <a:srgbClr val="4EC97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Tag exists or created: </a:t>
            </a:r>
            <a:r>
              <a:rPr sz="850" dirty="0" err="1">
                <a:solidFill>
                  <a:srgbClr val="4EC974"/>
                </a:solidFill>
                <a:latin typeface="Courier New"/>
              </a:rPr>
              <a:t>nsen.nsen_dw.infa_dq_score</a:t>
            </a:r>
            <a:endParaRPr sz="850" dirty="0">
              <a:solidFill>
                <a:srgbClr val="4EC974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Executing statements to unset existing tags...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INFO: Executing ALTER TABLE NSEN.NSEN_DW.NS_MKTG_USER SET tag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4EC974"/>
                </a:solidFill>
                <a:latin typeface="Courier New"/>
              </a:rPr>
              <a:t>         </a:t>
            </a:r>
            <a:r>
              <a:rPr sz="850" dirty="0" err="1">
                <a:solidFill>
                  <a:srgbClr val="4EC974"/>
                </a:solidFill>
                <a:latin typeface="Courier New"/>
              </a:rPr>
              <a:t>nsen.nsen_dw.infa_business_term</a:t>
            </a:r>
            <a:r>
              <a:rPr sz="850" dirty="0">
                <a:solidFill>
                  <a:srgbClr val="4EC974"/>
                </a:solidFill>
                <a:latin typeface="Courier New"/>
              </a:rPr>
              <a:t> = 'Marketing Customer'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800" b="0" dirty="0">
                <a:solidFill>
                  <a:srgbClr val="4EC950"/>
                </a:solidFill>
              </a:rPr>
              <a:t>INFO: Log saved to run_snowflake_updater_20260320_154157.log</a:t>
            </a:r>
          </a:p>
        </p:txBody>
      </p:sp>
    </p:spTree>
    <p:extLst>
      <p:ext uri="{BB962C8B-B14F-4D97-AF65-F5344CB8AC3E}">
        <p14:creationId xmlns:p14="http://schemas.microsoft.com/office/powerpoint/2010/main" val="57782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069107" y="1465399"/>
            <a:ext cx="7339764" cy="953605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C726FA-899D-4D62-B2B9-31D3C881C6EC}"/>
              </a:ext>
            </a:extLst>
          </p:cNvPr>
          <p:cNvSpPr txBox="1">
            <a:spLocks/>
          </p:cNvSpPr>
          <p:nvPr/>
        </p:nvSpPr>
        <p:spPr>
          <a:xfrm>
            <a:off x="1069107" y="2715079"/>
            <a:ext cx="7339764" cy="1416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5399" b="0" i="0" kern="120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2pPr>
            <a:lvl3pPr marL="914217" indent="0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3pPr>
            <a:lvl4pPr marL="1371326" indent="0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4pPr>
            <a:lvl5pPr marL="1828435" indent="0" algn="l" defTabSz="91421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5pPr>
            <a:lvl6pPr marL="914400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6pPr>
            <a:lvl7pPr marL="1084263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7pPr>
            <a:lvl8pPr marL="1258888" indent="-174625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8pPr>
            <a:lvl9pPr marL="1428750" indent="-169863" algn="l" defTabSz="91421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9pPr>
          </a:lstStyle>
          <a:p>
            <a:r>
              <a:rPr lang="en-US" sz="1600"/>
              <a:t>Questions / Issues / Suggestions:</a:t>
            </a:r>
          </a:p>
          <a:p>
            <a:r>
              <a:rPr lang="en-US" sz="1600"/>
              <a:t>Scott Hayes</a:t>
            </a:r>
          </a:p>
          <a:p>
            <a:r>
              <a:rPr lang="en-US" sz="1600"/>
              <a:t>scott.hayes@salesforce.com</a:t>
            </a:r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Informatica">
      <a:dk1>
        <a:srgbClr val="373737"/>
      </a:dk1>
      <a:lt1>
        <a:srgbClr val="FFFFFF"/>
      </a:lt1>
      <a:dk2>
        <a:srgbClr val="0432FF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92D03D"/>
      </a:accent6>
      <a:hlink>
        <a:srgbClr val="0432FF"/>
      </a:hlink>
      <a:folHlink>
        <a:srgbClr val="9223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91440" rIns="137160" bIns="91440" rtlCol="0" anchor="ctr"/>
      <a:lstStyle>
        <a:defPPr>
          <a:defRPr smtClean="0"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spcAft>
            <a:spcPts val="1000"/>
          </a:spcAft>
          <a:defRPr sz="2100" dirty="0" err="1" smtClean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formatica Powerpoint Master_Roboto_r1" id="{271281B5-08A3-AC41-8BD9-1578A2037E7E}" vid="{EA06B9FC-3577-1F42-B125-D08C2CD06FAE}"/>
    </a:ext>
  </a:extLst>
</a:theme>
</file>

<file path=ppt/theme/theme2.xml><?xml version="1.0" encoding="utf-8"?>
<a:theme xmlns:a="http://schemas.openxmlformats.org/drawingml/2006/main" name="3_Office Theme">
  <a:themeElements>
    <a:clrScheme name="Informatica">
      <a:dk1>
        <a:srgbClr val="373737"/>
      </a:dk1>
      <a:lt1>
        <a:srgbClr val="FFFFFF"/>
      </a:lt1>
      <a:dk2>
        <a:srgbClr val="0432FF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92D03D"/>
      </a:accent6>
      <a:hlink>
        <a:srgbClr val="0432FF"/>
      </a:hlink>
      <a:folHlink>
        <a:srgbClr val="9223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91440" rIns="137160" bIns="91440" rtlCol="0" anchor="ctr"/>
      <a:lstStyle>
        <a:defPPr>
          <a:defRPr smtClean="0"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spcAft>
            <a:spcPts val="1000"/>
          </a:spcAft>
          <a:defRPr sz="2100" dirty="0" err="1" smtClean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formatica Powerpoint Master_Roboto_r1" id="{271281B5-08A3-AC41-8BD9-1578A2037E7E}" vid="{EA06B9FC-3577-1F42-B125-D08C2CD06FAE}"/>
    </a:ext>
  </a:extLst>
</a:theme>
</file>

<file path=ppt/theme/theme3.xml><?xml version="1.0" encoding="utf-8"?>
<a:theme xmlns:a="http://schemas.openxmlformats.org/drawingml/2006/main" name="1_IW17">
  <a:themeElements>
    <a:clrScheme name="Custom 4">
      <a:dk1>
        <a:srgbClr val="373737"/>
      </a:dk1>
      <a:lt1>
        <a:srgbClr val="FFFFFF"/>
      </a:lt1>
      <a:dk2>
        <a:srgbClr val="595959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0019FF"/>
      </a:accent6>
      <a:hlink>
        <a:srgbClr val="0019FF"/>
      </a:hlink>
      <a:folHlink>
        <a:srgbClr val="9220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0E49C123-240F-5A40-A789-EAC3B4E3F5A1}" vid="{8F7913D4-1422-F944-9E1E-34944C1B6A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469B9DDCB7884E95DD88D1FAB455BB" ma:contentTypeVersion="4" ma:contentTypeDescription="Create a new document." ma:contentTypeScope="" ma:versionID="2af74787b6fa7b67583c56dc5776735d">
  <xsd:schema xmlns:xsd="http://www.w3.org/2001/XMLSchema" xmlns:xs="http://www.w3.org/2001/XMLSchema" xmlns:p="http://schemas.microsoft.com/office/2006/metadata/properties" xmlns:ns2="d7abb67f-8ba3-4629-af4a-9ad47f056db5" targetNamespace="http://schemas.microsoft.com/office/2006/metadata/properties" ma:root="true" ma:fieldsID="03e5ccd49f08cdc976c4df5b8baab980" ns2:_="">
    <xsd:import namespace="d7abb67f-8ba3-4629-af4a-9ad47f056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bb67f-8ba3-4629-af4a-9ad47f056d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FC13DC-9E91-480E-AA50-E69DFCF153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A5433E-CDB9-440C-BB77-1799205ED86D}">
  <ds:schemaRefs>
    <ds:schemaRef ds:uri="d7abb67f-8ba3-4629-af4a-9ad47f056d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4c8150c-bc7e-4d77-82d5-2d0905f0cd74}" enabled="1" method="Standard" siteId="{2638f43e-f77d-4fc7-ab92-7b753b7876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Informatica Powerpoint Master_Roboto_r1</Template>
  <TotalTime>1060</TotalTime>
  <Words>853</Words>
  <Application>Microsoft Office PowerPoint</Application>
  <PresentationFormat>Custom</PresentationFormat>
  <Paragraphs>106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Roboto</vt:lpstr>
      <vt:lpstr>Roboto Light</vt:lpstr>
      <vt:lpstr>2_Office Theme</vt:lpstr>
      <vt:lpstr>3_Office Theme</vt:lpstr>
      <vt:lpstr>1_IW17</vt:lpstr>
      <vt:lpstr>PowerPoint Presentation</vt:lpstr>
      <vt:lpstr>What are we trying to do?</vt:lpstr>
      <vt:lpstr>The approach</vt:lpstr>
      <vt:lpstr>PowerPoint Presentation</vt:lpstr>
      <vt:lpstr>Setup Step 1</vt:lpstr>
      <vt:lpstr>Setup Step 2 — Configure</vt:lpstr>
      <vt:lpstr>Setup Step 3 *Optional</vt:lpstr>
      <vt:lpstr>Running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Kara, Amit</dc:creator>
  <cp:keywords/>
  <dc:description/>
  <cp:lastModifiedBy>Hayes, Scott</cp:lastModifiedBy>
  <cp:revision>50</cp:revision>
  <cp:lastPrinted>2018-10-18T20:42:58Z</cp:lastPrinted>
  <dcterms:created xsi:type="dcterms:W3CDTF">2017-08-24T15:57:22Z</dcterms:created>
  <dcterms:modified xsi:type="dcterms:W3CDTF">2026-10-07T15:33:15Z</dcterms:modified>
  <cp:category/>
</cp:coreProperties>
</file>